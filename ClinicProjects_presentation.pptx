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D7899-78E8-40BC-873F-354A8B545EA5}" v="86" dt="2026-10-04T17:04:22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9C280-2164-4512-A165-0FE868D39A2E}" type="datetimeFigureOut"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5425" y="1524000"/>
            <a:ext cx="7308850" cy="4113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5813"/>
            <a:ext cx="5486400" cy="4799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6A2A3-53C5-4041-A020-66DCE02B60D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68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12188952" cy="7315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СИСТЕМА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 — медицинская информационная система для автоматизации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медицинского учреждения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 err="1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Разработчик</a:t>
            </a:r>
            <a:r>
              <a:rPr lang="en-US" sz="1400" dirty="0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проекта</a:t>
            </a:r>
            <a:r>
              <a:rPr lang="en-US" sz="1400" dirty="0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  · </a:t>
            </a:r>
            <a:r>
              <a:rPr lang="en-US" sz="1400" dirty="0" err="1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Балышева</a:t>
            </a:r>
            <a:r>
              <a:rPr lang="en-US" sz="1400" dirty="0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4FD1C5"/>
                </a:solidFill>
                <a:latin typeface="Calibri"/>
                <a:ea typeface="Calibri"/>
                <a:cs typeface="Calibri"/>
              </a:rPr>
              <a:t>Светлана</a:t>
            </a:r>
            <a:endParaRPr lang="en-US" sz="1400" dirty="0" err="1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github.com/hillfrssty/ClinicProjects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ВСТУПЛЕНИЕ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 ситуацию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908792" cy="4206240"/>
          </a:xfrm>
          <a:prstGeom prst="roundRect">
            <a:avLst>
              <a:gd name="adj" fmla="val 1304"/>
            </a:avLst>
          </a:prstGeom>
          <a:solidFill>
            <a:srgbClr val="E6F6F5"/>
          </a:solidFill>
          <a:ln w="12700">
            <a:solidFill>
              <a:srgbClr val="0F6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101772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Приёмное отделение заполняет карту пациента на бумаге, расписание врачей висит в Excel, а остатки лекарств на складе никто не видит в реальном времени.
</a:t>
            </a: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объединяет регистратуру, стационар, расписание приёмов и аптеку в единую систему </a:t>
            </a:r>
            <a:r>
              <a:rPr lang="en-US" sz="20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 счёт общей базы данных, веб-, настольного и мобильного клиентов и единого REST API для подсистемы «Аптека».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актуальность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проблему решаем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пациентах разрознены: регистратура, стационар и расписание ведутся в разных, часто бумажных или табличных источниках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 пациентов и занятость коек отслеживаются вручную — ошибки и задержки при госпитализации и выписке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лекарств на складах не синхронизирован с реальным расходом — риск дефицита или просрочки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0" cy="4663440"/>
          </a:xfrm>
          <a:prstGeom prst="line">
            <a:avLst/>
          </a:prstGeom>
          <a:noFill/>
          <a:ln w="19050">
            <a:solidFill>
              <a:srgbClr val="EEF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бездействия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1783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30–40 мин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поиск свободной койки и оформление госпитализации вручную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15% записей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3429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теряются или дублируются при ручном ведении расписания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простоя аптеки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4663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своевременного контроля остатков по складам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конкурентов и новизна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000684"/>
              </p:ext>
            </p:extLst>
          </p:nvPr>
        </p:nvGraphicFramePr>
        <p:xfrm>
          <a:off x="640080" y="1417320"/>
          <a:ext cx="10972800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Бумажный / Excel-учёт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Типовая МИС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(«1С:Медицина» и аналоги)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ClinicProjects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Единая база пациентов, коек и аптеки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C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общая MySQL-БД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отделения в реальном времени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Редко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C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обновление каждые 3 сек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Мобильный доступ к аптеке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C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.NET MAUI + REST API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 внедрения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6B7A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 лицензия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C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Open-source, гибкая настройка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2521458" cy="3931920"/>
          </a:xfrm>
          <a:prstGeom prst="roundRect">
            <a:avLst>
              <a:gd name="adj" fmla="val 2539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920240"/>
            <a:ext cx="2064258" cy="502920"/>
          </a:xfrm>
          <a:prstGeom prst="roundRect">
            <a:avLst>
              <a:gd name="adj" fmla="val 49091"/>
            </a:avLst>
          </a:prstGeom>
          <a:solidFill>
            <a:srgbClr val="0F6B7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920240"/>
            <a:ext cx="2064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Регистратор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197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Нуждается в: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197281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оформить пациента, госпитализацию и направления без бумажных карт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35858" y="1645920"/>
            <a:ext cx="2521458" cy="3931920"/>
          </a:xfrm>
          <a:prstGeom prst="roundRect">
            <a:avLst>
              <a:gd name="adj" fmla="val 2539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4458" y="1920240"/>
            <a:ext cx="2064258" cy="502920"/>
          </a:xfrm>
          <a:prstGeom prst="roundRect">
            <a:avLst>
              <a:gd name="adj" fmla="val 49091"/>
            </a:avLst>
          </a:prstGeom>
          <a:solidFill>
            <a:srgbClr val="0F6B72"/>
          </a:solidFill>
          <a:ln/>
        </p:spPr>
      </p:sp>
      <p:sp>
        <p:nvSpPr>
          <p:cNvPr id="16" name="Text 14"/>
          <p:cNvSpPr/>
          <p:nvPr/>
        </p:nvSpPr>
        <p:spPr>
          <a:xfrm>
            <a:off x="3664458" y="1920240"/>
            <a:ext cx="2064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10178" y="2697480"/>
            <a:ext cx="197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Нуждается в: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10178" y="3017520"/>
            <a:ext cx="197281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видеть расписание приёма и свободные койки, фиксировать назначения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31636" y="1645920"/>
            <a:ext cx="2521458" cy="3931920"/>
          </a:xfrm>
          <a:prstGeom prst="roundRect">
            <a:avLst>
              <a:gd name="adj" fmla="val 2539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0236" y="1920240"/>
            <a:ext cx="2064258" cy="502920"/>
          </a:xfrm>
          <a:prstGeom prst="roundRect">
            <a:avLst>
              <a:gd name="adj" fmla="val 49091"/>
            </a:avLst>
          </a:prstGeom>
          <a:solidFill>
            <a:srgbClr val="0F6B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0236" y="1920240"/>
            <a:ext cx="2064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Зав. отделением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5956" y="2697480"/>
            <a:ext cx="197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Нуждается в: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5956" y="3017520"/>
            <a:ext cx="197281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контролировать занятость коек и перемещения пациентов в реальном времени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027414" y="1645920"/>
            <a:ext cx="2521458" cy="3931920"/>
          </a:xfrm>
          <a:prstGeom prst="roundRect">
            <a:avLst>
              <a:gd name="adj" fmla="val 2539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6014" y="1920240"/>
            <a:ext cx="2064258" cy="502920"/>
          </a:xfrm>
          <a:prstGeom prst="roundRect">
            <a:avLst>
              <a:gd name="adj" fmla="val 49091"/>
            </a:avLst>
          </a:prstGeom>
          <a:solidFill>
            <a:srgbClr val="0F6B72"/>
          </a:solidFill>
          <a:ln/>
        </p:spPr>
      </p:sp>
      <p:sp>
        <p:nvSpPr>
          <p:cNvPr id="26" name="Text 24"/>
          <p:cNvSpPr/>
          <p:nvPr/>
        </p:nvSpPr>
        <p:spPr>
          <a:xfrm>
            <a:off x="9256014" y="1920240"/>
            <a:ext cx="2064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Фармацевт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301734" y="2697480"/>
            <a:ext cx="197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Нуждается в: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301734" y="3017520"/>
            <a:ext cx="197281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отслеживать остатки, поступления и списания препаратов по складам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Бизнес-показатели внедрения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521458" cy="3291840"/>
          </a:xfrm>
          <a:prstGeom prst="roundRect">
            <a:avLst>
              <a:gd name="adj" fmla="val 2901"/>
            </a:avLst>
          </a:prstGeom>
          <a:solidFill>
            <a:srgbClr val="0F6B7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22471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мин → 5 мин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1097280" y="3154680"/>
            <a:ext cx="1607058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37560"/>
            <a:ext cx="20642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оформления госпитализации и подбора койки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35858" y="1828800"/>
            <a:ext cx="2521458" cy="3291840"/>
          </a:xfrm>
          <a:prstGeom prst="roundRect">
            <a:avLst>
              <a:gd name="adj" fmla="val 2901"/>
            </a:avLst>
          </a:prstGeom>
          <a:solidFill>
            <a:srgbClr val="0F6B72"/>
          </a:solidFill>
          <a:ln/>
        </p:spPr>
      </p:sp>
      <p:sp>
        <p:nvSpPr>
          <p:cNvPr id="14" name="Text 12"/>
          <p:cNvSpPr/>
          <p:nvPr/>
        </p:nvSpPr>
        <p:spPr>
          <a:xfrm>
            <a:off x="3573018" y="2103120"/>
            <a:ext cx="22471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−90%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3893058" y="3154680"/>
            <a:ext cx="1607058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4458" y="3337560"/>
            <a:ext cx="20642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ручных ошибок при ведении расписания приёмов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31636" y="1828800"/>
            <a:ext cx="2521458" cy="3291840"/>
          </a:xfrm>
          <a:prstGeom prst="roundRect">
            <a:avLst>
              <a:gd name="adj" fmla="val 2901"/>
            </a:avLst>
          </a:prstGeom>
          <a:solidFill>
            <a:srgbClr val="0F6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2103120"/>
            <a:ext cx="22471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688836" y="3154680"/>
            <a:ext cx="1607058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0236" y="3337560"/>
            <a:ext cx="20642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 остатков аптеки по всем складам онлайн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027414" y="1828800"/>
            <a:ext cx="2521458" cy="3291840"/>
          </a:xfrm>
          <a:prstGeom prst="roundRect">
            <a:avLst>
              <a:gd name="adj" fmla="val 2901"/>
            </a:avLst>
          </a:prstGeom>
          <a:solidFill>
            <a:srgbClr val="0F6B72"/>
          </a:solidFill>
          <a:ln/>
        </p:spPr>
      </p:sp>
      <p:sp>
        <p:nvSpPr>
          <p:cNvPr id="22" name="Text 20"/>
          <p:cNvSpPr/>
          <p:nvPr/>
        </p:nvSpPr>
        <p:spPr>
          <a:xfrm>
            <a:off x="9164574" y="2103120"/>
            <a:ext cx="224713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сек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9484614" y="3154680"/>
            <a:ext cx="1607058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6014" y="3337560"/>
            <a:ext cx="206425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карты отделения (обновление каждые 3 сек)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на основе архитектуры решения и целевых сценариев использования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требования по модулям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164592" cy="868680"/>
          </a:xfrm>
          <a:prstGeom prst="roundRect">
            <a:avLst>
              <a:gd name="adj" fmla="val 16667"/>
            </a:avLst>
          </a:prstGeom>
          <a:solidFill>
            <a:srgbClr val="3C9D6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35331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1 · Поток пациентов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06240" y="1353312"/>
            <a:ext cx="7342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пациентов, госпитализация, направления на лечебно-диагностические мероприятия, генерация QR-кодов медкарт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322576"/>
            <a:ext cx="164592" cy="868680"/>
          </a:xfrm>
          <a:prstGeom prst="roundRect">
            <a:avLst>
              <a:gd name="adj" fmla="val 16667"/>
            </a:avLst>
          </a:prstGeom>
          <a:solidFill>
            <a:srgbClr val="3C9D6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30428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2 · Коечный фонд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2304288"/>
            <a:ext cx="7342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отделения в реальном времени, коечный фонд палат 101–118, drag&amp;drop перевод пациентов, выписка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164592" cy="868680"/>
          </a:xfrm>
          <a:prstGeom prst="roundRect">
            <a:avLst>
              <a:gd name="adj" fmla="val 16667"/>
            </a:avLst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55264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3 · ЭМК (проектирование)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06240" y="3255264"/>
            <a:ext cx="7342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UML-диаграммы деятельности и последовательности, 9 wireframe-экранов электронной медкарты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164592" cy="868680"/>
          </a:xfrm>
          <a:prstGeom prst="roundRect">
            <a:avLst>
              <a:gd name="adj" fmla="val 16667"/>
            </a:avLst>
          </a:prstGeom>
          <a:solidFill>
            <a:srgbClr val="3C9D6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062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4 · Расписание приёмов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06240" y="4206240"/>
            <a:ext cx="7342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Дневное и недельное расписание, фильтры по врачу/специальности/дате, цветовые статусы, утверждение расписания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0080" y="5175504"/>
            <a:ext cx="164592" cy="868680"/>
          </a:xfrm>
          <a:prstGeom prst="roundRect">
            <a:avLst>
              <a:gd name="adj" fmla="val 16667"/>
            </a:avLst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15721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5 · Аптека (в доработке)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06240" y="5157216"/>
            <a:ext cx="7342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по складам через REST API, поступления, списания, перемещения, заявки отделений, отчёт по дефициту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5317236" cy="1417320"/>
          </a:xfrm>
          <a:prstGeom prst="roundRect">
            <a:avLst>
              <a:gd name="adj" fmla="val 3871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57276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6B7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572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1508760"/>
            <a:ext cx="3488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Avalonia UI, .NET 8, C# 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48600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Кроссплатформенный клиент расписания приёмов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5317236" cy="1417320"/>
          </a:xfrm>
          <a:prstGeom prst="roundRect">
            <a:avLst>
              <a:gd name="adj" fmla="val 3871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0236" y="157276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6B72"/>
          </a:solidFill>
          <a:ln/>
        </p:spPr>
      </p:sp>
      <p:sp>
        <p:nvSpPr>
          <p:cNvPr id="16" name="Text 14"/>
          <p:cNvSpPr/>
          <p:nvPr/>
        </p:nvSpPr>
        <p:spPr>
          <a:xfrm>
            <a:off x="6460236" y="1572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77556" y="1508760"/>
            <a:ext cx="3488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Server, .NET 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0236" y="2121408"/>
            <a:ext cx="48600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Регистратура, госпитализация, карта стационара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5317236" cy="1417320"/>
          </a:xfrm>
          <a:prstGeom prst="roundRect">
            <a:avLst>
              <a:gd name="adj" fmla="val 3871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17296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6B7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1729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3108960"/>
            <a:ext cx="3488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721608"/>
            <a:ext cx="48600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аптекой на складе и в отделении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1636" y="2971800"/>
            <a:ext cx="5317236" cy="1417320"/>
          </a:xfrm>
          <a:prstGeom prst="roundRect">
            <a:avLst>
              <a:gd name="adj" fmla="val 3871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0236" y="317296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6B72"/>
          </a:solidFill>
          <a:ln/>
        </p:spPr>
      </p:sp>
      <p:sp>
        <p:nvSpPr>
          <p:cNvPr id="26" name="Text 24"/>
          <p:cNvSpPr/>
          <p:nvPr/>
        </p:nvSpPr>
        <p:spPr>
          <a:xfrm>
            <a:off x="6460236" y="31729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77556" y="3108960"/>
            <a:ext cx="3488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60236" y="3721608"/>
            <a:ext cx="48600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для подсистемы «Аптека» (PharmacyApi)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5317236" cy="1417320"/>
          </a:xfrm>
          <a:prstGeom prst="roundRect">
            <a:avLst>
              <a:gd name="adj" fmla="val 3871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77316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6B72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7731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4709160"/>
            <a:ext cx="3488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8.0, MySql.Data (ADO.NET)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" y="5321808"/>
            <a:ext cx="48600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БД clinic_db для всех клиентов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31636" y="4572000"/>
            <a:ext cx="5317236" cy="1417320"/>
          </a:xfrm>
          <a:prstGeom prst="roundRect">
            <a:avLst>
              <a:gd name="adj" fmla="val 3871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0236" y="4773168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6B72"/>
          </a:solidFill>
          <a:ln/>
        </p:spPr>
      </p:sp>
      <p:sp>
        <p:nvSpPr>
          <p:cNvPr id="36" name="Text 34"/>
          <p:cNvSpPr/>
          <p:nvPr/>
        </p:nvSpPr>
        <p:spPr>
          <a:xfrm>
            <a:off x="6460236" y="47731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77556" y="4709160"/>
            <a:ext cx="3488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QRCoder, CommunityToolkit.Mvvm, DocumentFormat.OpenXml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60236" y="5321808"/>
            <a:ext cx="48600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QR-коды медкарт, MVVM, выгрузка отчётов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клиента опираются на общую базу данных; подсистема «Аптека» дополнительно открыта через REST API для мобильного приложения.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0F6B7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ClinicWebApp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(Blazor Server)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2788920"/>
            <a:ext cx="0" cy="502920"/>
          </a:xfrm>
          <a:prstGeom prst="line">
            <a:avLst/>
          </a:prstGeom>
          <a:noFill/>
          <a:ln w="19050">
            <a:solidFill>
              <a:srgbClr val="6B7A8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0560" y="19659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0F6B72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965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ClinicApp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(Avalonia Desktop)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0" cy="502920"/>
          </a:xfrm>
          <a:prstGeom prst="line">
            <a:avLst/>
          </a:prstGeom>
          <a:noFill/>
          <a:ln w="19050">
            <a:solidFill>
              <a:srgbClr val="6B7A8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19659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0F6B72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965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ClinicMobile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(.NET MAUI)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64040" y="2788920"/>
            <a:ext cx="0" cy="502920"/>
          </a:xfrm>
          <a:prstGeom prst="line">
            <a:avLst/>
          </a:prstGeom>
          <a:noFill/>
          <a:ln w="19050">
            <a:solidFill>
              <a:srgbClr val="6B7A8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3291840"/>
            <a:ext cx="7223760" cy="685800"/>
          </a:xfrm>
          <a:prstGeom prst="roundRect">
            <a:avLst>
              <a:gd name="adj" fmla="val 8000"/>
            </a:avLst>
          </a:prstGeom>
          <a:solidFill>
            <a:srgbClr val="1A2B3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918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доступ (ADO.NET) — ClinicWebApp, ClinicApp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66760" y="32918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3291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(REST, ASP.NET Core)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26280" y="3977640"/>
            <a:ext cx="0" cy="457200"/>
          </a:xfrm>
          <a:prstGeom prst="line">
            <a:avLst/>
          </a:prstGeom>
          <a:noFill/>
          <a:ln w="19050">
            <a:solidFill>
              <a:srgbClr val="6B7A8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38360" y="3977640"/>
            <a:ext cx="0" cy="457200"/>
          </a:xfrm>
          <a:prstGeom prst="line">
            <a:avLst/>
          </a:prstGeom>
          <a:noFill/>
          <a:ln w="19050">
            <a:solidFill>
              <a:srgbClr val="6B7A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82965" y="4436942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E6F6F5"/>
          </a:solidFill>
          <a:ln w="19050">
            <a:solidFill>
              <a:srgbClr val="0F6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2965" y="445270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— база данных clinic_db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на масштабируемость: подсистемы можно выносить в отдельные сервисы и БД без изменения клиентов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UI принципы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3453384" cy="2743200"/>
          </a:xfrm>
          <a:prstGeom prst="roundRect">
            <a:avLst>
              <a:gd name="adj" fmla="val 2333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2452" y="192024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209245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Минимализм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2904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более 3 кликов до ключевого действия: госпитализация, запись, списание препарата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67784" y="1645920"/>
            <a:ext cx="3453384" cy="2743200"/>
          </a:xfrm>
          <a:prstGeom prst="roundRect">
            <a:avLst>
              <a:gd name="adj" fmla="val 2333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0156" y="192024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0664" y="265176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Консистентность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2104" y="3063240"/>
            <a:ext cx="2904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цветовая индикация статусов (свободно / занято / отменено) во всех клиентах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5488" y="1645920"/>
            <a:ext cx="3453384" cy="2743200"/>
          </a:xfrm>
          <a:prstGeom prst="roundRect">
            <a:avLst>
              <a:gd name="adj" fmla="val 2333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47860" y="192024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95478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8368" y="2651760"/>
            <a:ext cx="3087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Наглядность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9808" y="3063240"/>
            <a:ext cx="2904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отделения и расписание — визуальные, с drag&amp;drop и цветовыми статусами вместо таблиц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Соответствие: WCAG 2.1 Level AA для ключевых интерфейсов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госпитализация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10908792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A83"/>
                </a:solidFill>
                <a:latin typeface="Calibri"/>
                <a:ea typeface="Calibri"/>
                <a:cs typeface="Calibri"/>
              </a:rPr>
              <a:t>[ </a:t>
            </a:r>
            <a:r>
              <a:rPr lang="en-US" sz="1400" i="1" dirty="0" err="1">
                <a:solidFill>
                  <a:srgbClr val="6B7A83"/>
                </a:solidFill>
                <a:latin typeface="Calibri"/>
                <a:ea typeface="Calibri"/>
                <a:cs typeface="Calibri"/>
              </a:rPr>
              <a:t>Скриншот</a:t>
            </a:r>
            <a:r>
              <a:rPr lang="en-US" sz="1400" i="1" dirty="0">
                <a:solidFill>
                  <a:srgbClr val="6B7A8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dirty="0" err="1">
                <a:solidFill>
                  <a:srgbClr val="6B7A83"/>
                </a:solidFill>
                <a:latin typeface="Calibri"/>
                <a:ea typeface="Calibri"/>
                <a:cs typeface="Calibri"/>
              </a:rPr>
              <a:t>инт</a:t>
            </a:r>
            <a:endParaRPr lang="en-US" sz="1400" i="1" dirty="0" err="1">
              <a:solidFill>
                <a:srgbClr val="6B7A83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65841" y="1686189"/>
            <a:ext cx="3220191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dirty="0">
                <a:solidFill>
                  <a:srgbClr val="0F6B72"/>
                </a:solidFill>
                <a:latin typeface="Calibri"/>
                <a:ea typeface="Calibri"/>
                <a:cs typeface="Calibri"/>
              </a:rPr>
              <a:t>Сценарий: регистрация нового пациента 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F6B72"/>
                </a:solidFill>
                <a:latin typeface="Calibri"/>
                <a:ea typeface="Calibri"/>
                <a:cs typeface="Calibri"/>
              </a:rPr>
              <a:t>и </a:t>
            </a:r>
            <a:r>
              <a:rPr lang="en-US" sz="2000" b="1" dirty="0" err="1">
                <a:solidFill>
                  <a:srgbClr val="0F6B72"/>
                </a:solidFill>
                <a:latin typeface="Calibri"/>
                <a:ea typeface="Calibri"/>
                <a:cs typeface="Calibri"/>
              </a:rPr>
              <a:t>оформление</a:t>
            </a:r>
            <a:r>
              <a:rPr lang="en-US" sz="2000" b="1" dirty="0">
                <a:solidFill>
                  <a:srgbClr val="0F6B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0F6B72"/>
                </a:solidFill>
                <a:latin typeface="Calibri"/>
                <a:ea typeface="Calibri"/>
                <a:cs typeface="Calibri"/>
              </a:rPr>
              <a:t>госпитализации</a:t>
            </a:r>
            <a:endParaRPr lang="en-US" sz="2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580468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Переход: Регистратура → Карточка пациента → Госпитализация → QR-код медкарты</a:t>
            </a:r>
            <a:endParaRPr lang="en-US" sz="13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1A24BF-F67A-1427-4CD3-CACC1434D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0" y="1301856"/>
            <a:ext cx="7664919" cy="233756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97F478-3CC2-2F56-6512-66A78CB4F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79" y="3759150"/>
            <a:ext cx="7576977" cy="19070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отделения и коечный фонд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10908792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i="1" dirty="0">
              <a:solidFill>
                <a:srgbClr val="6B7A83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Сценарий: перевод пациента между койками (палаты 101–118) и выписка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Переход: Карта отделения → Drag&amp;Drop на свободную койку → Контекстное меню «Выписать»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отделения обновляется каждые 3 секунды: персонал — синие кружки, пациенты — зелёные</a:t>
            </a:r>
            <a:endParaRPr lang="en-US" sz="11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E6A6649-6AB7-9642-F48D-49E75EFAE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32" y="1154927"/>
            <a:ext cx="5835716" cy="291277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0B79666-2AB9-EC77-3E69-A2818F432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65" y="1151792"/>
            <a:ext cx="5186919" cy="29190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приёмов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402886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Сценарий: запись пациента к врачу и утверждение расписания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730599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Переход: Расписание (день/неделя) → Фильтр по врачу/специальности → Запись → Утверждение главным врачом</a:t>
            </a:r>
            <a:endParaRPr lang="en-US" sz="13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C77BD9A-FC93-9EC6-30E7-CBCA4088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67" y="1347479"/>
            <a:ext cx="11273963" cy="37730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Аптека и адаптивность клиентов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384" y="1467612"/>
            <a:ext cx="6492240" cy="4480560"/>
          </a:xfrm>
          <a:prstGeom prst="roundRect">
            <a:avLst>
              <a:gd name="adj" fmla="val 1020"/>
            </a:avLst>
          </a:prstGeom>
          <a:solidFill>
            <a:srgbClr val="EEF2F3"/>
          </a:solidFill>
          <a:ln w="12700">
            <a:solidFill>
              <a:srgbClr val="DDE4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1417320"/>
            <a:ext cx="6492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 — остатки и заявки аптеки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384" y="469255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Сценарий: поступление, списание и перемещение препаратов между складами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Переход: список лекарств → форма движения → отчёт по дефициту с подсветкой срочных позиций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4206240" cy="4480560"/>
          </a:xfrm>
          <a:prstGeom prst="roundRect">
            <a:avLst>
              <a:gd name="adj" fmla="val 1087"/>
            </a:avLst>
          </a:prstGeom>
          <a:solidFill>
            <a:srgbClr val="E6F6F5"/>
          </a:solidFill>
          <a:ln w="12700">
            <a:solidFill>
              <a:srgbClr val="0F6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43800" y="2103120"/>
            <a:ext cx="3749040" cy="77724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0F6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— ClinicApp (Avalonia)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3108960"/>
            <a:ext cx="3749040" cy="77724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0F6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108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 — ClinicWebApp (Blazor)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4114800"/>
            <a:ext cx="3749040" cy="77724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0F6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4114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Мобильный — ClinicMobile (.NET MAUI)</a:t>
            </a:r>
            <a:endParaRPr lang="en-US" sz="1200" dirty="0"/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F5A2425F-3A27-13A0-4602-5283826A9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4" y="1501902"/>
            <a:ext cx="603504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PharmacyApi (REST)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 доступа к остаткам и движению препаратов для мобильного и десктоп-клиентов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821607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684447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2684447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QR-кодов медицинских карт пациентов для быстрого доступа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3964607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827447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DocumentFormat.OpenXml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3827447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отчётов (например, по дефициту препаратов) в офисные форматы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тестирование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 для PharmacyApi и веб-клиента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Хеширование паролей пользователей (bcrypt)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Параметризованные запросы ADO.NET — защита от SQL-инъекций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 доступа (RBAC): регистратор, врач, зав. отделением, фармацевт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0" cy="4663440"/>
          </a:xfrm>
          <a:prstGeom prst="line">
            <a:avLst/>
          </a:prstGeom>
          <a:noFill/>
          <a:ln w="19050">
            <a:solidFill>
              <a:srgbClr val="EEF2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178308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Unit-тесты ключевой бизнес-логики (расписание, коечный фонд, учёт аптеки)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Интеграционные тесты взаимодействия клиентов с MySQL и PharmacyApi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Нагрузочное тестирование карты отделения при одновременной работе персонала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83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выводы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 — МИС для медицинского учреждения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65992" y="6565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Работающие модули: регистратура и госпитализация, карта отделения и коечный фонд, расписание приёмов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Подсистема «Аптека» реализована и дорабатывается; ЭМК спроектирована (UML + wireframes)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код, SQL-скрипты и документация опубликованы в репозитории проекта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Социальная значимость: сокращение времени оформления пациентов и ошибок учёта коек и лекарств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1463040"/>
            <a:ext cx="3931920" cy="4206240"/>
          </a:xfrm>
          <a:prstGeom prst="roundRect">
            <a:avLst>
              <a:gd name="adj" fmla="val 1395"/>
            </a:avLst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github.com/hillfrssty/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ClinicProjects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6384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50" b="1" dirty="0" err="1">
                <a:solidFill>
                  <a:srgbClr val="FFFFFF"/>
                </a:solidFill>
                <a:ea typeface="Calibri"/>
                <a:cs typeface="Calibri"/>
              </a:rPr>
              <a:t>Балышева</a:t>
            </a:r>
            <a:r>
              <a:rPr lang="en-US" sz="135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ea typeface="Calibri"/>
                <a:cs typeface="Calibri"/>
              </a:rPr>
              <a:t>Светлана</a:t>
            </a:r>
          </a:p>
        </p:txBody>
      </p:sp>
      <p:sp>
        <p:nvSpPr>
          <p:cNvPr id="16" name="Text 14"/>
          <p:cNvSpPr/>
          <p:nvPr/>
        </p:nvSpPr>
        <p:spPr>
          <a:xfrm>
            <a:off x="7863840" y="4206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balysevasveta000@gmail.com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1209</Words>
  <Application>Microsoft Office PowerPoint</Application>
  <PresentationFormat>Произвольный</PresentationFormat>
  <Paragraphs>236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александр клыков</cp:lastModifiedBy>
  <cp:revision>51</cp:revision>
  <dcterms:created xsi:type="dcterms:W3CDTF">2026-10-04T16:12:54Z</dcterms:created>
  <dcterms:modified xsi:type="dcterms:W3CDTF">2026-10-05T03:57:25Z</dcterms:modified>
</cp:coreProperties>
</file>